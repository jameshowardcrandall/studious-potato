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2468880"/>
            <a:ext cx="8979408" cy="5486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Platform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Environment Standards for the Army National Guard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44348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NGB Digital Transformation Office  |  April 2026  |  v0.1 DRAFT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D6E6E">
              <a:alpha val="30000"/>
            </a:srgbClr>
          </a:solidFill>
          <a:ln w="12700">
            <a:solidFill>
              <a:srgbClr val="0D6E6E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1B9E8A">
              <a:alpha val="45000"/>
            </a:srgbClr>
          </a:solidFill>
          <a:ln w="12700">
            <a:solidFill>
              <a:srgbClr val="1B9E8A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Ownership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20624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NGB OPERATES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810512"/>
            <a:ext cx="7315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647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Nexus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340864"/>
            <a:ext cx="7315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951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871216"/>
            <a:ext cx="7315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2549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Checkbook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401568"/>
            <a:ext cx="7315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558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 Layer &amp; Data Pipelines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931920"/>
            <a:ext cx="7315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886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Policy (tenant-level)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51560"/>
            <a:ext cx="4206240" cy="59436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0515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STATES MANAGE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92040" y="1810512"/>
            <a:ext cx="73152" cy="27432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7647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Platform Environments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 / Test / Prod)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2340864"/>
            <a:ext cx="73152" cy="27432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2951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Apps, Flows &amp; Reports built by state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2871216"/>
            <a:ext cx="73152" cy="27432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82549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 in state environments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92040" y="3401568"/>
            <a:ext cx="73152" cy="27432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3558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Starter Kit (state tenant)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3931920"/>
            <a:ext cx="73152" cy="27432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886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 pipeline for state solutions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069080" y="256032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NGB governs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98848" y="2103120"/>
            <a:ext cx="0" cy="2011680"/>
          </a:xfrm>
          <a:prstGeom prst="line">
            <a:avLst/>
          </a:prstGeom>
          <a:noFill/>
          <a:ln w="25400">
            <a:solidFill>
              <a:srgbClr val="C9A84C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are consumers of NGB products — not operators. Power Platform environments are state-managed, NGB-governed.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3-Environment Standard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566160"/>
          </a:xfrm>
          <a:prstGeom prst="rect">
            <a:avLst/>
          </a:prstGeom>
          <a:solidFill>
            <a:srgbClr val="D9EAD3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731520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11155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here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solutions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 → NGB Dev/Sandbox endpoint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743200" cy="3566160"/>
          </a:xfrm>
          <a:prstGeom prst="rect">
            <a:avLst/>
          </a:prstGeom>
          <a:solidFill>
            <a:srgbClr val="FFF2CC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51560"/>
            <a:ext cx="2743200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789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UAT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11155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here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187452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Synthetic/masked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solutions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 → NGB Test endpoint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051560"/>
            <a:ext cx="2743200" cy="3566160"/>
          </a:xfrm>
          <a:prstGeom prst="rect">
            <a:avLst/>
          </a:prstGeom>
          <a:solidFill>
            <a:srgbClr val="D6E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51560"/>
            <a:ext cx="2743200" cy="73152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0789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0936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0" y="11155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55080" y="187452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DaaS data feeds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solutions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change control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17520" y="2834640"/>
            <a:ext cx="22860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320" y="2834640"/>
            <a:ext cx="22860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26974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 Pipeline →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89320" y="26974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 Pipeline →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pattern: [State]-PP-Dev | [State]-PP-Test | [State]-PP-Prod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Naming Conventions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36576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1005840"/>
            <a:ext cx="2834640" cy="36576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005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926080" cy="36576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005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389888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898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1389888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3898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5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[State]-[Function]-App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389888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38988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WA-SoldierReadiness-App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865376"/>
            <a:ext cx="274320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86537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0" y="1865376"/>
            <a:ext cx="283464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86537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5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[State]-[Process]-Flow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865376"/>
            <a:ext cx="292608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86537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TX-DaaS-Refresh-Flow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340864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34086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2340864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340864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5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[State]-[Subject]-Report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2340864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234086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CA-Readiness-Report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816352"/>
            <a:ext cx="274320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8163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Dataverse Table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08960" y="2816352"/>
            <a:ext cx="283464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281635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5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[state]_[entity] (snake_case)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2816352"/>
            <a:ext cx="292608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281635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wa_soldier_snapshot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29184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291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08960" y="329184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3291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5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[State]-[Purpose]-Solution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35040" y="3291840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32918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WA-ReadinessSuite-Solution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767328"/>
            <a:ext cx="274320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7673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Variable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108960" y="3767328"/>
            <a:ext cx="283464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0" y="37673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5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[Scope]_[Setting]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35040" y="3767328"/>
            <a:ext cx="292608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376732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NGB_DaaS_Endpoint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snake_case for Dataverse. Hyphens for everything else. State code prefix always.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DLP Policy — Connector Classification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926080" cy="3566160"/>
          </a:xfrm>
          <a:prstGeom prst="rect">
            <a:avLst/>
          </a:prstGeom>
          <a:solidFill>
            <a:srgbClr val="D9EAD3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926080" cy="502920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109728" cy="109728"/>
          </a:xfrm>
          <a:prstGeom prst="ellipse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819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Dataverse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109728" cy="109728"/>
          </a:xfrm>
          <a:prstGeom prst="ellipse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848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(M365)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109728" cy="109728"/>
          </a:xfrm>
          <a:prstGeom prst="ellipse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877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NGB Custom Connectors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36392"/>
            <a:ext cx="109728" cy="109728"/>
          </a:xfrm>
          <a:prstGeom prst="ellipse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9067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/ Outlook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109728" cy="109728"/>
          </a:xfrm>
          <a:prstGeom prst="ellipse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9359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42232"/>
            <a:ext cx="109728" cy="109728"/>
          </a:xfrm>
          <a:prstGeom prst="ellipse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965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1005840"/>
            <a:ext cx="2606040" cy="3566160"/>
          </a:xfrm>
          <a:prstGeom prst="rect">
            <a:avLst/>
          </a:prstGeom>
          <a:solidFill>
            <a:srgbClr val="FFF2CC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0" y="1005840"/>
            <a:ext cx="2606040" cy="502920"/>
          </a:xfrm>
          <a:prstGeom prst="rect">
            <a:avLst/>
          </a:prstGeom>
          <a:solidFill>
            <a:srgbClr val="CC7A00"/>
          </a:solidFill>
          <a:ln w="12700">
            <a:solidFill>
              <a:srgbClr val="CC7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NON-BUSINESS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11880" y="1627632"/>
            <a:ext cx="109728" cy="109728"/>
          </a:xfrm>
          <a:prstGeom prst="ellipse">
            <a:avLst/>
          </a:prstGeom>
          <a:solidFill>
            <a:srgbClr val="CC7A00"/>
          </a:solidFill>
          <a:ln w="12700">
            <a:solidFill>
              <a:srgbClr val="CC7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1581912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Custom HTTP (Dev/Test only, NGB approval required)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11880" y="2130552"/>
            <a:ext cx="109728" cy="109728"/>
          </a:xfrm>
          <a:prstGeom prst="ellipse">
            <a:avLst/>
          </a:prstGeom>
          <a:solidFill>
            <a:srgbClr val="CC7A00"/>
          </a:solidFill>
          <a:ln w="12700">
            <a:solidFill>
              <a:srgbClr val="CC7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2084832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SMS/Phone connectors (require NGB waiver)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1005840"/>
            <a:ext cx="2606040" cy="3566160"/>
          </a:xfrm>
          <a:prstGeom prst="rect">
            <a:avLst/>
          </a:prstGeom>
          <a:solidFill>
            <a:srgbClr val="FFDCE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1005840"/>
            <a:ext cx="2606040" cy="502920"/>
          </a:xfrm>
          <a:prstGeom prst="rect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46520" y="1627632"/>
            <a:ext cx="109728" cy="109728"/>
          </a:xfrm>
          <a:prstGeom prst="ellipse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581912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(Twitter, LinkedIn, Facebook)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46520" y="2130552"/>
            <a:ext cx="109728" cy="109728"/>
          </a:xfrm>
          <a:prstGeom prst="ellipse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2084832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storage (Dropbox, Google Drive, Box)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46520" y="2633472"/>
            <a:ext cx="109728" cy="109728"/>
          </a:xfrm>
          <a:prstGeom prst="ellipse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2587752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unauthenticated outbound connector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NGB manages DLP at the tenant level. States may only add more restrictive policies, never less restrictive.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743200" cy="36576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87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Role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87552"/>
            <a:ext cx="2606040" cy="36576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9875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987552"/>
            <a:ext cx="2926080" cy="36576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987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371600"/>
            <a:ext cx="2743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371600"/>
            <a:ext cx="73152" cy="4937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71600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2606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371600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PP Admin (1–2 max)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371600"/>
            <a:ext cx="2926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1371600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control. Owns DLP, connectors, schema.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1883664"/>
            <a:ext cx="2743200" cy="493776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883664"/>
            <a:ext cx="73152" cy="493776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883664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Customizer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1883664"/>
            <a:ext cx="2606040" cy="493776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1883664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makers / devs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1883664"/>
            <a:ext cx="2926080" cy="493776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1883664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apps, flows, tables. No DLP changes.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395728"/>
            <a:ext cx="2743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395728"/>
            <a:ext cx="73152" cy="493776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395728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Maker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2395728"/>
            <a:ext cx="2606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395728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makers only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2395728"/>
            <a:ext cx="2926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2395728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apps and flows. Requires 200-level.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2907792"/>
            <a:ext cx="2743200" cy="493776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907792"/>
            <a:ext cx="73152" cy="493776"/>
          </a:xfrm>
          <a:prstGeom prst="rect">
            <a:avLst/>
          </a:prstGeom>
          <a:solidFill>
            <a:srgbClr val="1B9E8A"/>
          </a:solidFill>
          <a:ln w="12700">
            <a:solidFill>
              <a:srgbClr val="1B9E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907792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User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0" y="2907792"/>
            <a:ext cx="2606040" cy="493776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0128" y="2907792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licensed state users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0" y="2907792"/>
            <a:ext cx="2926080" cy="493776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53328" y="2907792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apps shared with them. No build access.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419856"/>
            <a:ext cx="2743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419856"/>
            <a:ext cx="73152" cy="4937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419856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0" y="3419856"/>
            <a:ext cx="2606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128" y="3419856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 dataflow principal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43600" y="3419856"/>
            <a:ext cx="2926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53328" y="341985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Non-human. DaaS refresh only. No interactive login.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security roles via Azure AD Groups — never directly to individual users.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Lifecycle Management (ALM)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417320" cy="1645920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91640" y="2011680"/>
            <a:ext cx="32004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192024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1188720"/>
            <a:ext cx="1417320" cy="1645920"/>
          </a:xfrm>
          <a:prstGeom prst="rect">
            <a:avLst/>
          </a:prstGeom>
          <a:solidFill>
            <a:srgbClr val="5A4478"/>
          </a:solidFill>
          <a:ln w="12700">
            <a:solidFill>
              <a:srgbClr val="5A44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12344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20116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2011680"/>
            <a:ext cx="32004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192024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1188720"/>
            <a:ext cx="1417320" cy="1645920"/>
          </a:xfrm>
          <a:prstGeom prst="rect">
            <a:avLst/>
          </a:prstGeom>
          <a:solidFill>
            <a:srgbClr val="CC7A00"/>
          </a:solidFill>
          <a:ln w="12700">
            <a:solidFill>
              <a:srgbClr val="CC7A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12344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20116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66360" y="2011680"/>
            <a:ext cx="32004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1808" y="192024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1188720"/>
            <a:ext cx="1417320" cy="164592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12344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20116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security check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2011680"/>
            <a:ext cx="32004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59168" y="192024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23760" y="1188720"/>
            <a:ext cx="1417320" cy="164592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23760" y="12344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20116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063240"/>
            <a:ext cx="4251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063240"/>
            <a:ext cx="73152" cy="530352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06324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environment variables — never hardcode URLs or endpoints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685032"/>
            <a:ext cx="4251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685032"/>
            <a:ext cx="73152" cy="530352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685032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solutions only in Test and Prod — no direct edits in production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063240"/>
            <a:ext cx="4251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063240"/>
            <a:ext cx="73152" cy="530352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06324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 (GitHub / Azure DevOps) connected from Day 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685032"/>
            <a:ext cx="4251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685032"/>
            <a:ext cx="73152" cy="530352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685032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NGB governance check required before any solution hits Prod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As A Service — How States Connect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148840" cy="1508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11556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8288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IPPS-A  DJMS-RC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ATRRS  GN/Forecast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1847088"/>
            <a:ext cx="411480" cy="0"/>
          </a:xfrm>
          <a:prstGeom prst="line">
            <a:avLst/>
          </a:prstGeom>
          <a:noFill/>
          <a:ln w="3175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7373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097280"/>
            <a:ext cx="2148840" cy="150876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111556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HUB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18288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+ Fact tables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847088"/>
            <a:ext cx="411480" cy="0"/>
          </a:xfrm>
          <a:prstGeom prst="line">
            <a:avLst/>
          </a:prstGeom>
          <a:noFill/>
          <a:ln w="3175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7373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1097280"/>
            <a:ext cx="2148840" cy="150876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11556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DATAVERSE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8288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 tables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pushed/pulled via dataflow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1847088"/>
            <a:ext cx="411480" cy="0"/>
          </a:xfrm>
          <a:prstGeom prst="line">
            <a:avLst/>
          </a:prstGeom>
          <a:noFill/>
          <a:ln w="3175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7373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23760" y="1097280"/>
            <a:ext cx="2148840" cy="1508760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111556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23760" y="18288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Automate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83464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834640"/>
            <a:ext cx="4114800" cy="411480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34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Onboarding Package (Auto)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Dim_Rank  •  Dim_State  •  Dim_Date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Dim_MOS  •  Dim_Soldier (state-scoped)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160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Dim_Unit (state-scoped)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83464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834640"/>
            <a:ext cx="4206240" cy="41148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834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Dataflows — Request Process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3364992"/>
            <a:ext cx="256032" cy="256032"/>
          </a:xfrm>
          <a:prstGeom prst="ellipse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20640" y="3319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need via NGB Support Portal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3767328"/>
            <a:ext cx="256032" cy="256032"/>
          </a:xfrm>
          <a:prstGeom prst="ellipse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20640" y="37216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NGB reviews (5 business days)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4169664"/>
            <a:ext cx="256032" cy="256032"/>
          </a:xfrm>
          <a:prstGeom prst="ellipse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151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20640" y="41239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 approval if PII fields needed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4572000"/>
            <a:ext cx="256032" cy="256032"/>
          </a:xfrm>
          <a:prstGeom prst="ellipse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553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2064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NGB provisions → state validates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Common Mistakes to Avoid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57200" cy="822960"/>
          </a:xfrm>
          <a:prstGeom prst="rect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058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0515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 Prod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4081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Dev. Changes must go through ALM.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96596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965960"/>
            <a:ext cx="457200" cy="822960"/>
          </a:xfrm>
          <a:prstGeom prst="rect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9659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201168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Sys Admins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3682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 per environment. Least privilege always.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92608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926080"/>
            <a:ext cx="457200" cy="822960"/>
          </a:xfrm>
          <a:prstGeom prst="rect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9260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297180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endpoints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3284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environment variables for all URLs and keys.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88620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886200"/>
            <a:ext cx="457200" cy="822960"/>
          </a:xfrm>
          <a:prstGeom prst="rect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886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39319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instead of Dataverse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28853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relationships, no RLS, no DaaS integration.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00584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005840"/>
            <a:ext cx="457200" cy="822960"/>
          </a:xfrm>
          <a:prstGeom prst="rect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0058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57800" y="10515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connectors in Prod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14081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Dropbox, Twitter — DLP violation.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196596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1965960"/>
            <a:ext cx="457200" cy="822960"/>
          </a:xfrm>
          <a:prstGeom prst="rect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19659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57800" y="201168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in Test/Prod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23682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ALM entirely. Managed solutions only.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92608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926080"/>
            <a:ext cx="457200" cy="822960"/>
          </a:xfrm>
          <a:prstGeom prst="rect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9260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257800" y="297180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user for DaaS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57800" y="33284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leaves → integration breaks. Use service principal.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88620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886200"/>
            <a:ext cx="457200" cy="822960"/>
          </a:xfrm>
          <a:prstGeom prst="rect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886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257800" y="39319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control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57800" y="428853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from Day 1. Not optional.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Governance Checklist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97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73152" cy="566928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15568"/>
            <a:ext cx="256032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Dev/Test/Prod provisioned with NGB naming convention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627632"/>
            <a:ext cx="4297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627632"/>
            <a:ext cx="73152" cy="566928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783080"/>
            <a:ext cx="256032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627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9019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env has max 2 System Administrators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95144"/>
            <a:ext cx="4297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295144"/>
            <a:ext cx="73152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50592"/>
            <a:ext cx="256032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2951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25694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NGB DLP baseline policy applied to all 3 environments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2962656"/>
            <a:ext cx="4297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962656"/>
            <a:ext cx="73152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118104"/>
            <a:ext cx="256032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9626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" y="32369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consumer connectors active in any environment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3630168"/>
            <a:ext cx="4297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630168"/>
            <a:ext cx="73152" cy="566928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785616"/>
            <a:ext cx="256032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630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" y="39044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roles assigned via AAD Groups (not individuals)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" y="4297680"/>
            <a:ext cx="4297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4297680"/>
            <a:ext cx="73152" cy="566928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453128"/>
            <a:ext cx="256032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297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5800" y="4572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created for DaaS dataflow refresh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960120"/>
            <a:ext cx="4297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960120"/>
            <a:ext cx="73152" cy="566928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1115568"/>
            <a:ext cx="256032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66360" y="1234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 repo connected (GitHub / Azure DevOps)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1627632"/>
            <a:ext cx="4297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1627632"/>
            <a:ext cx="73152" cy="566928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1783080"/>
            <a:ext cx="256032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1627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66360" y="19019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Prod are managed-solutions only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09160" y="2295144"/>
            <a:ext cx="4297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9160" y="2295144"/>
            <a:ext cx="73152" cy="566928"/>
          </a:xfrm>
          <a:prstGeom prst="rect">
            <a:avLst/>
          </a:prstGeom>
          <a:solidFill>
            <a:srgbClr val="1B9E8A"/>
          </a:solidFill>
          <a:ln w="12700">
            <a:solidFill>
              <a:srgbClr val="1B9E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46320" y="2450592"/>
            <a:ext cx="256032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22951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66360" y="25694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dimension tables provisioned in Prod Dataverse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09160" y="2962656"/>
            <a:ext cx="4297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2962656"/>
            <a:ext cx="73152" cy="566928"/>
          </a:xfrm>
          <a:prstGeom prst="rect">
            <a:avLst/>
          </a:prstGeom>
          <a:solidFill>
            <a:srgbClr val="1B9E8A"/>
          </a:solidFill>
          <a:ln w="12700">
            <a:solidFill>
              <a:srgbClr val="1B9E8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46320" y="3118104"/>
            <a:ext cx="256032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66360" y="29626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66360" y="32369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 Agreement signed (if accessing PII fields)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709160" y="3630168"/>
            <a:ext cx="4297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09160" y="3630168"/>
            <a:ext cx="73152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46320" y="3785616"/>
            <a:ext cx="256032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66360" y="3630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166360" y="39044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PP Admin holds 300-level certification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709160" y="4297680"/>
            <a:ext cx="4297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09160" y="4297680"/>
            <a:ext cx="73152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46320" y="4453128"/>
            <a:ext cx="256032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66360" y="4297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66360" y="4572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Starter Kit deployed to Dev environment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380744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80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2588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your State POC, PP Admin, Data Steward, and Training POC in the NGB roster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84248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929384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Dev/Test/Prod environments with NGB naming convention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87752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53288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NGB DLP baseline policy to all three environments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191256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91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136392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300-Level course (required for DaaS onboarding eligibility)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739896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CoE Starter Kit to Dev and submit your first monthly CoE report to NGB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398264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398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434340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DaaS onboarding — submit DUA and get your standard dimension tables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Submit via the NGB Support Portal or bring them to the monthly State Sync call.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ARNG Power Platform — State Environment Best Practices</dc:title>
  <dc:subject>PptxGenJS Presentation</dc:subject>
  <dc:creator>NGB Digital Transformation Office</dc:creator>
  <cp:lastModifiedBy>NGB Digital Transformation Office</cp:lastModifiedBy>
  <cp:revision>1</cp:revision>
  <dcterms:created xsi:type="dcterms:W3CDTF">2026-04-02T16:45:11Z</dcterms:created>
  <dcterms:modified xsi:type="dcterms:W3CDTF">2026-04-02T16:45:11Z</dcterms:modified>
</cp:coreProperties>
</file>